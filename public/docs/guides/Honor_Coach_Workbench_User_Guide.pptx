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5597857" cy="1051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The Honor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8792B"/>
                </a:solidFill>
                <a:latin typeface="Calibri"/>
              </a:rPr>
              <a:t>Coach Workbench — User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F4F6F9"/>
                </a:solidFill>
                <a:latin typeface="Calibri"/>
              </a:rPr>
              <a:t>A step-by-step guide for coaches translating elite service into private-sector careers.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Powered by InspiresGenius.com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F4F6F9"/>
                </a:solidFill>
                <a:latin typeface="Calibri"/>
              </a:rPr>
              <a:t>July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START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What's new in this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96012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82296" cy="9601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09928"/>
            <a:ext cx="10570464" cy="7406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Calibri"/>
              </a:rPr>
              <a:t>Request a PRISM report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0" i="0">
                <a:solidFill>
                  <a:srgbClr val="222831"/>
                </a:solidFill>
                <a:latin typeface="Calibri"/>
              </a:rPr>
              <a:t>Enroll a Fellow for the PRISM assessment straight from the workbench — no separate portal.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15768"/>
            <a:ext cx="10881360" cy="96012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15768"/>
            <a:ext cx="82296" cy="9601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825496"/>
            <a:ext cx="10570464" cy="7406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Calibri"/>
              </a:rPr>
              <a:t>Target position description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0" i="0">
                <a:solidFill>
                  <a:srgbClr val="222831"/>
                </a:solidFill>
                <a:latin typeface="Calibri"/>
              </a:rPr>
              <a:t>On the Résumé Writer, paste or upload a specific job posting and the résumé is tailored to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31336"/>
            <a:ext cx="10881360" cy="96012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31336"/>
            <a:ext cx="82296" cy="9601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3941064"/>
            <a:ext cx="10570464" cy="7406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Calibri"/>
              </a:rPr>
              <a:t>Import a Cohort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0" i="0">
                <a:solidFill>
                  <a:srgbClr val="222831"/>
                </a:solidFill>
                <a:latin typeface="Calibri"/>
              </a:rPr>
              <a:t>The bulk-add flow is now labelled clearly on Onboarding — one spreadsheet adds many Fellows.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46904"/>
            <a:ext cx="10881360" cy="96012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46904"/>
            <a:ext cx="82296" cy="9601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6632"/>
            <a:ext cx="10570464" cy="7406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Calibri"/>
              </a:rPr>
              <a:t>Cleaner formatting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0" i="0">
                <a:solidFill>
                  <a:srgbClr val="222831"/>
                </a:solidFill>
                <a:latin typeface="Calibri"/>
              </a:rPr>
              <a:t>Every report is left-justified, and any plan you ask for comes back as a numbered, step-by-step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ORIENTATION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The workbench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49240" cy="12344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82296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09928"/>
            <a:ext cx="5038344" cy="10149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Dashboard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222831"/>
                </a:solidFill>
                <a:latin typeface="Calibri"/>
              </a:rPr>
              <a:t>Caseload counts, recent activity, what needs attention.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600200"/>
            <a:ext cx="5349240" cy="12344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600200"/>
            <a:ext cx="82296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09928"/>
            <a:ext cx="5038344" cy="10149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My Fellows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222831"/>
                </a:solidFill>
                <a:latin typeface="Calibri"/>
              </a:rPr>
              <a:t>Your caseload roster — open a Fellow for their profile and documents.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5349240" cy="12344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82296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3127248"/>
            <a:ext cx="5038344" cy="10149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Onboarding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222831"/>
                </a:solidFill>
                <a:latin typeface="Calibri"/>
              </a:rPr>
              <a:t>Add Fellows one at a time, or in bulk via Import a Cohort.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017520"/>
            <a:ext cx="5349240" cy="12344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3017520"/>
            <a:ext cx="82296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127248"/>
            <a:ext cx="5038344" cy="10149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Evaluate Fellow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222831"/>
                </a:solidFill>
                <a:latin typeface="Calibri"/>
              </a:rPr>
              <a:t>Run a cited, deterministic evaluation — or compare a pod.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34840"/>
            <a:ext cx="5349240" cy="12344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34840"/>
            <a:ext cx="82296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544568"/>
            <a:ext cx="5038344" cy="10149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Résumé Writer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222831"/>
                </a:solidFill>
                <a:latin typeface="Calibri"/>
              </a:rPr>
              <a:t>Draft a private-sector résumé, safely translated from service.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4434840"/>
            <a:ext cx="5349240" cy="12344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434840"/>
            <a:ext cx="82296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544568"/>
            <a:ext cx="5038344" cy="10149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Activity / Schedule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222831"/>
                </a:solidFill>
                <a:latin typeface="Calibri"/>
              </a:rPr>
              <a:t>A running log of caseload activity and upcoming sessions.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THE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The step-by-step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473"/>
                </a:solidFill>
                <a:latin typeface="Calibri"/>
              </a:rPr>
              <a:t>A typical engagement moves through twelve steps. You won't need all of them for every Fellow — this is the natural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345643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82296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167128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1  Sign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057400"/>
            <a:ext cx="345643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057400"/>
            <a:ext cx="82296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167128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2  Build your caseload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3" y="2057400"/>
            <a:ext cx="345643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2057400"/>
            <a:ext cx="82296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2751" y="2167128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3  Invite a Fellow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345643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990088"/>
            <a:ext cx="82296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3099816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4  Add assessments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2990088"/>
            <a:ext cx="3456432" cy="749808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990088"/>
            <a:ext cx="82296" cy="749808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099816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5  Request a PRISM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3" y="2990088"/>
            <a:ext cx="345643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3" y="2990088"/>
            <a:ext cx="82296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1" y="3099816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6  Evaluate a Fellow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22776"/>
            <a:ext cx="345643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922776"/>
            <a:ext cx="82296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" y="4032504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7  Compare a pod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0832" y="3922776"/>
            <a:ext cx="3456432" cy="749808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2" y="3922776"/>
            <a:ext cx="82296" cy="749808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4032504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8  Attach a position description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01583" y="3922776"/>
            <a:ext cx="345643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1583" y="3922776"/>
            <a:ext cx="82296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02751" y="4032504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9  Narrate with Meridian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55464"/>
            <a:ext cx="345643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855464"/>
            <a:ext cx="82296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8" y="4965192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10  Export the evaluation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0832" y="4855464"/>
            <a:ext cx="3456432" cy="749808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70832" y="4855464"/>
            <a:ext cx="82296" cy="749808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4965192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11  Write a résumé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01583" y="4855464"/>
            <a:ext cx="345643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01583" y="4855464"/>
            <a:ext cx="82296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02751" y="4965192"/>
            <a:ext cx="3145536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12  Export the résumé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STEP 1–4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Sign in · Caseload · Invite · Assessments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473"/>
                </a:solidFill>
                <a:latin typeface="Calibri"/>
              </a:rPr>
              <a:t>The setup steps that get a Fellow's profile ready to evaluate.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3108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1 — Sign in via your invitation link or magic link; you land on your Dashboard.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2 — Build your caseload: add Fellows on Onboarding, or Import a Cohort to bulk-add from a spreadsheet.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3 — Invite a Fellow to turn a managed entry into a real account so documents attach.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4 — Add assessments: import PRISM (and DISC, CliftonStrengths, Big Five, Hogan), plus résumé and bio. Preview the parsed scores before saving.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82296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5001768"/>
            <a:ext cx="10570464" cy="1152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What the profile is built from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•  Behavioral profile = PRISM + résumé + bio + any additional assessments.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•  The evaluation and the résumé writer both ground their output in this profile — and cite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STEP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Request a PRISM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473"/>
                </a:solidFill>
                <a:latin typeface="Calibri"/>
              </a:rPr>
              <a:t>If a Fellow hasn't taken PRISM yet, enroll them without leaving the workbench.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3108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On My Fellows (or the Fellow's profile), click Request a PRISM report — a short form opens.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Enter the Fellow's First name, Last name, and Email.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Confirm the two pre-filled fields — Role is “user” and Organization is “The Honor Foundation.” These are fixed; you don't change them.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Click Request report. The Fellow is enrolled and their scores flow back automatically once the survey is completed.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82296" cy="13716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5001768"/>
            <a:ext cx="10570464" cy="1152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Good to know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•  One request per Fellow per day — clicking again within 24 hours reuses the existing request.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•  You only need name + email; Role and Organization are always set for you.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•  Already have the Fellow's PRISM CSV/PDF? Skip this and import it directly (Step 4).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STEP 6–7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Evaluate a Fellow · Compare a pod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473"/>
                </a:solidFill>
                <a:latin typeface="Calibri"/>
              </a:rPr>
              <a:t>The heart of the workbench: a cited, deterministic read of one Fellow — or a whole pod.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3108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6 — Select the Fellow, optionally type their goals (one per line), and click Run evaluation.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You get four cited sections: Objective Evaluation, Development Areas, Goals &amp; Objectives Fit, and Career / Position Fit (ranked 0–100).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Every number is computed the same way each time; a tag like “PRISM: Coordinating 90” shows the data point behind each statement.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7 — Select two or more owned Fellows to compare a pod: a fit-by-area matrix plus a team read (Covered, Gaps, Complementary, Redundant).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82296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5001768"/>
            <a:ext cx="10570464" cy="1152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Reading the scores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•  No scored assessment yet? The report says so and shows imputed-neutral scores — import or request a PRISM report for a real evaluation.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STEP 8–10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Position description · Narrate ·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473"/>
                </a:solidFill>
                <a:latin typeface="Calibri"/>
              </a:rPr>
              <a:t>Tailor the fit to a real job, put it into prose, and export a branded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3108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8 — Attach a position description (PDF, Word, or text) so the ranking considers that specific role.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9 — Narrate with Meridian turns the cited sections into a direct, dignified paragraph. Meridian never changes a score — it only puts findings into prose.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Every response is left-justified, and any plan you ask for comes back as a numbered, step-by-step list.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10 — Export: Download PDF (branded, confidential on every page) or Print. Email to Fellow is coming soon.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82296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5001768"/>
            <a:ext cx="10570464" cy="1152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How your report reads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•  Left-justified formatting and step-by-step plans apply to the evaluation, the résumé, and any Meridian chat on a Honor Fellow.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STEP 11–12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Write &amp; export a résumé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473"/>
                </a:solidFill>
                <a:latin typeface="Calibri"/>
              </a:rPr>
              <a:t>Draft a private-sector résumé from the Fellow's own profile — tailored to a target job.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3108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11 — Open Résumé Writer and select the Fellow. Optionally set a target role or career area.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Target position description — paste the job posting into the text box, OR click Upload a job description and attach it as a file. If you do both, the pasted text wins.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Click Generate résumé for a structured draft — headline, summary, core competencies, experience (safely translated), education, certifications — aligned to that position.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831"/>
                </a:solidFill>
                <a:latin typeface="Calibri"/>
              </a:rPr>
              <a:t>•  Step 12 — Export with Download PDF or Print; the résumé carries the same Honor branding and confidentiality footer.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82296" cy="13716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5001768"/>
            <a:ext cx="10570464" cy="1152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You are the editor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•  The draft never invents employers, dates, or credentials, and never surfaces classified or unit-identifying detail. Always review before use — you are the editor.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THE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Understanding the branded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473"/>
                </a:solidFill>
                <a:latin typeface="Calibri"/>
              </a:rPr>
              <a:t>Every exported evaluation and résumé is a polished, print-ready PDF: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6766560" cy="32918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82296" cy="3291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167128"/>
            <a:ext cx="6455664" cy="30723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831"/>
                </a:solidFill>
                <a:latin typeface="Calibri"/>
              </a:rPr>
              <a:t>•  Title page — “The Honor Foundation” with “Powered by InspiresGenius.com.”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831"/>
                </a:solidFill>
                <a:latin typeface="Calibri"/>
              </a:rPr>
              <a:t>•  “Prepared for” the Fellow (name, title, email) and “By” you, with the date.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831"/>
                </a:solidFill>
                <a:latin typeface="Calibri"/>
              </a:rPr>
              <a:t>•  The cited sections, formatted for an executive reader.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831"/>
                </a:solidFill>
                <a:latin typeface="Calibri"/>
              </a:rPr>
              <a:t>•  A confidentiality notice on every page: “Confidential Data. Distribution to others only by permission of {Fellow}.”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831"/>
                </a:solidFill>
                <a:latin typeface="Calibri"/>
              </a:rPr>
              <a:t>•  Left-justified throughout — clean on screen and in 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2057400"/>
            <a:ext cx="3931920" cy="329184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2057400"/>
            <a:ext cx="82296" cy="329184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90688" y="2167128"/>
            <a:ext cx="3621024" cy="30723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Three ways to share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22831"/>
                </a:solidFill>
                <a:latin typeface="Calibri"/>
              </a:rPr>
              <a:t>•  Download PDF — branded report.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22831"/>
                </a:solidFill>
                <a:latin typeface="Calibri"/>
              </a:rPr>
              <a:t>•  Print — straight to printer or save as PDF.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222831"/>
                </a:solidFill>
                <a:latin typeface="Calibri"/>
              </a:rPr>
              <a:t>•  Email to Fellow — coming soon.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NON-NEGOTIABLE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Privacy, safety &amp; confidentiality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881360" cy="8412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8792B"/>
                </a:solidFill>
                <a:latin typeface="Calibri"/>
              </a:rPr>
              <a:t>Ownership-gated — </a:t>
            </a:r>
            <a:r>
              <a:rPr sz="1400">
                <a:solidFill>
                  <a:srgbClr val="FFFFFF"/>
                </a:solidFill>
                <a:latin typeface="Calibri"/>
              </a:rPr>
              <a:t>You only ever see and act on your own Fellows.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70048"/>
            <a:ext cx="10881360" cy="8412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8792B"/>
                </a:solidFill>
                <a:latin typeface="Calibri"/>
              </a:rPr>
              <a:t>Safe translation — </a:t>
            </a:r>
            <a:r>
              <a:rPr sz="1400">
                <a:solidFill>
                  <a:srgbClr val="FFFFFF"/>
                </a:solidFill>
                <a:latin typeface="Calibri"/>
              </a:rPr>
              <a:t>SOF experience is rendered as leadership scope, team size, budget/asset responsibility, risk decisions, and outcomes — never classified, operationally sensitive, or unit-identifying detail.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02736"/>
            <a:ext cx="10881360" cy="8412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8792B"/>
                </a:solidFill>
                <a:latin typeface="Calibri"/>
              </a:rPr>
              <a:t>Grounded, not invented — </a:t>
            </a:r>
            <a:r>
              <a:rPr sz="1400">
                <a:solidFill>
                  <a:srgbClr val="FFFFFF"/>
                </a:solidFill>
                <a:latin typeface="Calibri"/>
              </a:rPr>
              <a:t>Evaluations and résumés draw only from the Fellow's own profile and documents.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35424"/>
            <a:ext cx="10881360" cy="8412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8792B"/>
                </a:solidFill>
                <a:latin typeface="Calibri"/>
              </a:rPr>
              <a:t>Coach-reviewed — </a:t>
            </a:r>
            <a:r>
              <a:rPr sz="1400">
                <a:solidFill>
                  <a:srgbClr val="FFFFFF"/>
                </a:solidFill>
                <a:latin typeface="Calibri"/>
              </a:rPr>
              <a:t>Treat every AI draft as a starting point you review before it reaches a Fellow.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468112"/>
            <a:ext cx="10881360" cy="8412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8792B"/>
                </a:solidFill>
                <a:latin typeface="Calibri"/>
              </a:rPr>
              <a:t>Confidential by default — </a:t>
            </a:r>
            <a:r>
              <a:rPr sz="1400">
                <a:solidFill>
                  <a:srgbClr val="FFFFFF"/>
                </a:solidFill>
                <a:latin typeface="Calibri"/>
              </a:rPr>
              <a:t>Exports are marked confidential; share them only with the Fellow's permission.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92B"/>
                </a:solidFill>
                <a:latin typeface="Calibri"/>
              </a:rPr>
              <a:t>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Calibri"/>
              </a:rPr>
              <a:t>What's live vs. coming soon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92024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868680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1554480"/>
            <a:ext cx="219456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8686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Request a PRISM report for a Fellow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103120"/>
            <a:ext cx="2194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8686800" cy="5486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Import a Cohort (bulk-add Fellows)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2651760"/>
            <a:ext cx="2194560" cy="5486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8686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Evaluate a Fellow (cited, ranked report)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3200400"/>
            <a:ext cx="2194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8686800" cy="5486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Compare a pod + team read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3749040"/>
            <a:ext cx="2194560" cy="5486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80"/>
            <a:ext cx="8686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Upload a target position description (résumé + fit)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4297680"/>
            <a:ext cx="2194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46320"/>
            <a:ext cx="8686800" cy="5486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Branded PDF export, Print, Download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4846320"/>
            <a:ext cx="2194560" cy="5486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94960"/>
            <a:ext cx="8686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Email the report/résumé to the Fellow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5394960"/>
            <a:ext cx="2194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92B"/>
                </a:solidFill>
                <a:latin typeface="Calibri"/>
              </a:rPr>
              <a:t>Coming soon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943600"/>
            <a:ext cx="8686800" cy="5486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831"/>
                </a:solidFill>
                <a:latin typeface="Calibri"/>
              </a:rPr>
              <a:t>Live résumé generation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5943600"/>
            <a:ext cx="2194560" cy="5486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92B"/>
                </a:solidFill>
                <a:latin typeface="Calibri"/>
              </a:rPr>
              <a:t>Activating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19088"/>
            <a:ext cx="10058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A6473"/>
                </a:solidFill>
                <a:latin typeface="Calibri"/>
              </a:rPr>
              <a:t>The Honor Foundation — Coach Workbench  ·  Powered by InspiresGenius.com  ·  Confidential coach reference.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38560" y="6419088"/>
            <a:ext cx="5486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47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You prepare the draft. You decide.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4F6F9"/>
                </a:solidFill>
                <a:latin typeface="Calibri"/>
              </a:rPr>
              <a:t>The workbench does the assembly and the citations — cleanly formatted, safely translated, and confidential by default. Your judgment turns it into coaching.</a:t>
            </a:r>
          </a:p>
          <a:p>
            <a:pPr algn="l">
              <a:spcBef>
                <a:spcPts val="1800"/>
              </a:spcBef>
              <a:spcAft>
                <a:spcPts val="400"/>
              </a:spcAft>
            </a:pPr>
            <a:r>
              <a:rPr sz="1200" b="0" i="1">
                <a:solidFill>
                  <a:srgbClr val="E8792B"/>
                </a:solidFill>
                <a:latin typeface="Calibri"/>
              </a:rPr>
              <a:t>The Honor Foundation — Coach Workbench  ·  Powered by InspiresGenius.com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